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y="5143500" cx="9144000"/>
  <p:notesSz cx="6858000" cy="9144000"/>
  <p:embeddedFontLst>
    <p:embeddedFont>
      <p:font typeface="Roboto"/>
      <p:regular r:id="rId65"/>
      <p:bold r:id="rId66"/>
      <p:italic r:id="rId67"/>
      <p:boldItalic r:id="rId68"/>
    </p:embeddedFont>
    <p:embeddedFont>
      <p:font typeface="Nunito"/>
      <p:regular r:id="rId69"/>
      <p:bold r:id="rId70"/>
      <p:italic r:id="rId71"/>
      <p:boldItalic r:id="rId72"/>
    </p:embeddedFont>
    <p:embeddedFont>
      <p:font typeface="Maven Pro"/>
      <p:regular r:id="rId73"/>
      <p:bold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MavenPro-regular.fntdata"/><Relationship Id="rId72" Type="http://schemas.openxmlformats.org/officeDocument/2006/relationships/font" Target="fonts/Nunito-bold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74" Type="http://schemas.openxmlformats.org/officeDocument/2006/relationships/font" Target="fonts/MavenPro-bold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Nunito-italic.fntdata"/><Relationship Id="rId70" Type="http://schemas.openxmlformats.org/officeDocument/2006/relationships/font" Target="fonts/Nunito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Roboto-bold.fntdata"/><Relationship Id="rId21" Type="http://schemas.openxmlformats.org/officeDocument/2006/relationships/slide" Target="slides/slide16.xml"/><Relationship Id="rId65" Type="http://schemas.openxmlformats.org/officeDocument/2006/relationships/font" Target="fonts/Roboto-regular.fntdata"/><Relationship Id="rId24" Type="http://schemas.openxmlformats.org/officeDocument/2006/relationships/slide" Target="slides/slide19.xml"/><Relationship Id="rId68" Type="http://schemas.openxmlformats.org/officeDocument/2006/relationships/font" Target="fonts/Roboto-boldItalic.fntdata"/><Relationship Id="rId23" Type="http://schemas.openxmlformats.org/officeDocument/2006/relationships/slide" Target="slides/slide18.xml"/><Relationship Id="rId67" Type="http://schemas.openxmlformats.org/officeDocument/2006/relationships/font" Target="fonts/Roboto-italic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Nunito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a31971d401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a31971d401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a31971d401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a31971d401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3, 12/12/23, Faaria Fatima, CSC239-02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a31971d401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a31971d401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Slide 4, 12/12/23, Faaria Fatima, CSC239-02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a31971d401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a31971d401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Slide 5, 12/12/23, Faaria Fatima, CSC239-02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a31971d401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a31971d401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Slide 6, 12/12/23, Faaria Fatima, CSC239-02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a31971d401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a31971d401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a31971d401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a31971d401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a4305d15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a4305d15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a4305d156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a4305d156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a31971d401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a31971d401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a31971d401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a31971d401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a4305d156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2a4305d156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a31971d401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a31971d401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a31971d401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a31971d401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Slide 2, 12/12/23, Gabryella Orrego, CSC239-02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a31971d401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a31971d401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a31a138e6c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a31a138e6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a31971d401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a31971d401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a31971d401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a31971d401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a31971d401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2a31971d401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a31971d401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2a31971d401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a31971d401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2a31971d401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a31971d401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2a31971d401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a31971d401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a31971d401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a31971d401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a31971d401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a31971d401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2a31971d401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a31971d401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a31971d401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a31971d401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2a31971d401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a31971d401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a31971d401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a31971d401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a31971d401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a31971d401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2a31971d401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a31971d401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a31971d401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a31971d401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2a31971d401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2a31971d401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2a31971d401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a31971d401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2a31971d401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2a31971d401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2a31971d401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a31971d401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2a31971d401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2a31971d401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2a31971d401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a31971d401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2a31971d401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2a31971d401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2a31971d401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a31971d401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2a31971d401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a31971d401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2a31971d401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a31971d401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2a31971d401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a31971d401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2a31971d401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2a31971d401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2a31971d401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2a31971d401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2a31971d401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a31971d401_0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2a31971d401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2a31971d401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2a31971d401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2a31971d401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2a31971d401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a31971d401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2a31971d401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a31971d401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2a31971d401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2a34b78cc8e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2a34b78cc8e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2a34b78cc8e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2a34b78cc8e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2a34b78cc8e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2a34b78cc8e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2a34b78cc8e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2a34b78cc8e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2a34b78cc8e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2a34b78cc8e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a34b78cc8e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a34b78cc8e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2a31971d401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2a31971d401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a31971d401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2a31971d401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0" y="1853800"/>
            <a:ext cx="5563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40"/>
              <a:t>Database Team Project - Database Implementation</a:t>
            </a:r>
            <a:endParaRPr sz="29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40"/>
              <a:t>Topic: Vacation Booking System</a:t>
            </a:r>
            <a:endParaRPr sz="29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40"/>
              <a:t>Section: CSC 239-02</a:t>
            </a:r>
            <a:endParaRPr sz="29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40"/>
              <a:t>Fall 2023</a:t>
            </a:r>
            <a:endParaRPr sz="29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40"/>
              <a:t>Øffshore Paradises</a:t>
            </a:r>
            <a:endParaRPr sz="29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9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940"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693600" y="405995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Faaria Fatima, Anna Koganov, Gabryella Orrego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Identification</a:t>
            </a:r>
            <a:endParaRPr/>
          </a:p>
        </p:txBody>
      </p:sp>
      <p:sp>
        <p:nvSpPr>
          <p:cNvPr id="284" name="Google Shape;284;p14"/>
          <p:cNvSpPr txBox="1"/>
          <p:nvPr/>
        </p:nvSpPr>
        <p:spPr>
          <a:xfrm>
            <a:off x="217050" y="4707150"/>
            <a:ext cx="86253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Slide 2, 12/12/23, Faaria Fatima, Anna Koganov, Gabryella Orrego, CSC239-02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Purpose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448875"/>
            <a:ext cx="7030500" cy="28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Develop a database for vacation booking system with related components.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Accommodate users who prefer booking individual components for their vacation.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Provide a user-friendly interface for effortless customization and booking.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system grants customers the autonomy to select their preferred mode of transportation and activities according to their individual preferences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91" name="Google Shape;291;p15"/>
          <p:cNvSpPr txBox="1"/>
          <p:nvPr/>
        </p:nvSpPr>
        <p:spPr>
          <a:xfrm>
            <a:off x="217050" y="4707150"/>
            <a:ext cx="86253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3,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type="title"/>
          </p:nvPr>
        </p:nvSpPr>
        <p:spPr>
          <a:xfrm>
            <a:off x="1303800" y="598575"/>
            <a:ext cx="7030500" cy="6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Audience</a:t>
            </a:r>
            <a:endParaRPr/>
          </a:p>
        </p:txBody>
      </p:sp>
      <p:sp>
        <p:nvSpPr>
          <p:cNvPr id="297" name="Google Shape;297;p16"/>
          <p:cNvSpPr txBox="1"/>
          <p:nvPr>
            <p:ph idx="1" type="body"/>
          </p:nvPr>
        </p:nvSpPr>
        <p:spPr>
          <a:xfrm>
            <a:off x="1303800" y="1439463"/>
            <a:ext cx="7030500" cy="30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Appeals to users wanting convenience by accessing comprehensive vacation data within a single application.</a:t>
            </a:r>
            <a:endParaRPr sz="2000"/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Targets users who prefer a straightforward, hassle-free approach to vacation planning.</a:t>
            </a:r>
            <a:endParaRPr sz="2000"/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Caters to those seeking a simplified booking experience rather than indulging in extensive bargain hunting and meticulous planning.</a:t>
            </a:r>
            <a:endParaRPr sz="2000"/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98" name="Google Shape;298;p16"/>
          <p:cNvSpPr txBox="1"/>
          <p:nvPr/>
        </p:nvSpPr>
        <p:spPr>
          <a:xfrm>
            <a:off x="217050" y="4707150"/>
            <a:ext cx="86253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4,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and </a:t>
            </a:r>
            <a:r>
              <a:rPr lang="en"/>
              <a:t>why the project is useful</a:t>
            </a:r>
            <a:endParaRPr/>
          </a:p>
        </p:txBody>
      </p:sp>
      <p:sp>
        <p:nvSpPr>
          <p:cNvPr id="304" name="Google Shape;304;p17"/>
          <p:cNvSpPr txBox="1"/>
          <p:nvPr>
            <p:ph idx="1" type="body"/>
          </p:nvPr>
        </p:nvSpPr>
        <p:spPr>
          <a:xfrm>
            <a:off x="1099125" y="1456125"/>
            <a:ext cx="7030500" cy="32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972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50"/>
              <a:buChar char="●"/>
            </a:pPr>
            <a:r>
              <a:rPr lang="en" sz="1750"/>
              <a:t>Maintains a centralized database encompassing customer contacts, booking details, reservation history, payment records, and preferences.</a:t>
            </a:r>
            <a:endParaRPr sz="1750"/>
          </a:p>
          <a:p>
            <a:pPr indent="-339725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50"/>
              <a:buChar char="●"/>
            </a:pPr>
            <a:r>
              <a:rPr lang="en" sz="1750"/>
              <a:t>Utilizes stored customer data, including preferences and popular destinations, to create personalized vacation plans.</a:t>
            </a:r>
            <a:endParaRPr sz="1750"/>
          </a:p>
          <a:p>
            <a:pPr indent="-339725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50"/>
              <a:buChar char="●"/>
            </a:pPr>
            <a:r>
              <a:rPr lang="en" sz="1750"/>
              <a:t>Customization provides customers with curated vacation options that match their preferences precisely.</a:t>
            </a:r>
            <a:endParaRPr sz="1750"/>
          </a:p>
          <a:p>
            <a:pPr indent="-339725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50"/>
              <a:buChar char="●"/>
            </a:pPr>
            <a:r>
              <a:rPr lang="en" sz="1750"/>
              <a:t>Beyond simplifying bookings, the system aims to craft personalized journeys for each customer.</a:t>
            </a:r>
            <a:endParaRPr sz="1750"/>
          </a:p>
          <a:p>
            <a:pPr indent="-339725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50"/>
              <a:buChar char="●"/>
            </a:pPr>
            <a:r>
              <a:rPr lang="en" sz="1750"/>
              <a:t>Strong database infrastructure ensures accuracy, contributing to an exceptional vacation planning experience.</a:t>
            </a:r>
            <a:endParaRPr sz="1750"/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250"/>
          </a:p>
        </p:txBody>
      </p:sp>
      <p:sp>
        <p:nvSpPr>
          <p:cNvPr id="305" name="Google Shape;305;p17"/>
          <p:cNvSpPr txBox="1"/>
          <p:nvPr/>
        </p:nvSpPr>
        <p:spPr>
          <a:xfrm>
            <a:off x="217050" y="4707150"/>
            <a:ext cx="86253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5,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will the project provide?</a:t>
            </a:r>
            <a:endParaRPr/>
          </a:p>
        </p:txBody>
      </p:sp>
      <p:sp>
        <p:nvSpPr>
          <p:cNvPr id="311" name="Google Shape;311;p18"/>
          <p:cNvSpPr txBox="1"/>
          <p:nvPr>
            <p:ph idx="1" type="body"/>
          </p:nvPr>
        </p:nvSpPr>
        <p:spPr>
          <a:xfrm>
            <a:off x="1303800" y="1551950"/>
            <a:ext cx="7030500" cy="22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9725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50"/>
              <a:buChar char="●"/>
            </a:pPr>
            <a:r>
              <a:rPr lang="en" sz="1750"/>
              <a:t>Provides a user-friendly interface for consumers to customize their trip bundles according to their preferences.</a:t>
            </a:r>
            <a:endParaRPr sz="1750"/>
          </a:p>
          <a:p>
            <a:pPr indent="-339725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50"/>
              <a:buChar char="●"/>
            </a:pPr>
            <a:r>
              <a:rPr lang="en" sz="1750"/>
              <a:t>Offers various travel customization choices, such as preferences and hotel/room configurations.</a:t>
            </a:r>
            <a:endParaRPr sz="1750"/>
          </a:p>
          <a:p>
            <a:pPr indent="-339725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50"/>
              <a:buChar char="●"/>
            </a:pPr>
            <a:r>
              <a:rPr lang="en" sz="1750"/>
              <a:t>Stores essential customer-related information</a:t>
            </a:r>
            <a:endParaRPr sz="1750"/>
          </a:p>
          <a:p>
            <a:pPr indent="-339725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50"/>
              <a:buChar char="●"/>
            </a:pPr>
            <a:r>
              <a:rPr lang="en" sz="1750"/>
              <a:t>Aims to ensure a personalized and satisfying travel experience throughout the trip.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D1D5DB"/>
              </a:solidFill>
              <a:highlight>
                <a:srgbClr val="34354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18"/>
          <p:cNvSpPr txBox="1"/>
          <p:nvPr/>
        </p:nvSpPr>
        <p:spPr>
          <a:xfrm>
            <a:off x="217050" y="4707150"/>
            <a:ext cx="86253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6,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Analysis</a:t>
            </a:r>
            <a:endParaRPr/>
          </a:p>
        </p:txBody>
      </p:sp>
      <p:sp>
        <p:nvSpPr>
          <p:cNvPr id="318" name="Google Shape;318;p19"/>
          <p:cNvSpPr txBox="1"/>
          <p:nvPr/>
        </p:nvSpPr>
        <p:spPr>
          <a:xfrm>
            <a:off x="217050" y="4707150"/>
            <a:ext cx="86253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Slide 7, 12/12/23, Faaria Fatima, Anna Koganov, Gabryella Orrego, CSC239-02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being done? </a:t>
            </a:r>
            <a:endParaRPr/>
          </a:p>
        </p:txBody>
      </p:sp>
      <p:sp>
        <p:nvSpPr>
          <p:cNvPr id="324" name="Google Shape;324;p20"/>
          <p:cNvSpPr txBox="1"/>
          <p:nvPr>
            <p:ph idx="1" type="body"/>
          </p:nvPr>
        </p:nvSpPr>
        <p:spPr>
          <a:xfrm>
            <a:off x="1303800" y="1284975"/>
            <a:ext cx="7030500" cy="32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6831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88"/>
              <a:t>Actual creation of database tables based on the structured design</a:t>
            </a:r>
            <a:r>
              <a:rPr lang="en" sz="1750"/>
              <a:t>.</a:t>
            </a:r>
            <a:endParaRPr sz="2588"/>
          </a:p>
          <a:p>
            <a:pPr indent="-368318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88"/>
              <a:t>Creation of entity-relationship diagrams and dependency diagrams for comprehensive data structuring and normalization.</a:t>
            </a:r>
            <a:endParaRPr sz="2588"/>
          </a:p>
          <a:p>
            <a:pPr indent="-368318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88"/>
              <a:t>Construction of entities followed by populating them with sample data.</a:t>
            </a:r>
            <a:endParaRPr sz="2588"/>
          </a:p>
          <a:p>
            <a:pPr indent="-368318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88"/>
              <a:t>Development of an application allowing users to access and submit vacation booking data.</a:t>
            </a:r>
            <a:endParaRPr sz="2588"/>
          </a:p>
          <a:p>
            <a:pPr indent="0" lvl="0" marL="457200" marR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50"/>
          </a:p>
        </p:txBody>
      </p:sp>
      <p:sp>
        <p:nvSpPr>
          <p:cNvPr id="325" name="Google Shape;325;p20"/>
          <p:cNvSpPr txBox="1"/>
          <p:nvPr/>
        </p:nvSpPr>
        <p:spPr>
          <a:xfrm>
            <a:off x="217050" y="4707150"/>
            <a:ext cx="86253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8,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is it being done?</a:t>
            </a:r>
            <a:endParaRPr/>
          </a:p>
        </p:txBody>
      </p:sp>
      <p:sp>
        <p:nvSpPr>
          <p:cNvPr id="331" name="Google Shape;331;p21"/>
          <p:cNvSpPr txBox="1"/>
          <p:nvPr>
            <p:ph idx="1" type="body"/>
          </p:nvPr>
        </p:nvSpPr>
        <p:spPr>
          <a:xfrm>
            <a:off x="1383875" y="1284975"/>
            <a:ext cx="7030500" cy="32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/>
          </a:p>
          <a:p>
            <a:pPr indent="-368318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2588"/>
              <a:t>Firstly, identifying data storage needs for the project.</a:t>
            </a:r>
            <a:endParaRPr sz="2588"/>
          </a:p>
          <a:p>
            <a:pPr indent="-36831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88"/>
              <a:t> Population of data tables with sample or test data to simulate real-world usage scenarios</a:t>
            </a:r>
            <a:r>
              <a:rPr lang="en" sz="1750"/>
              <a:t>.</a:t>
            </a:r>
            <a:endParaRPr sz="2588"/>
          </a:p>
          <a:p>
            <a:pPr indent="-36831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88"/>
              <a:t>Rigorous testing to ensure data accuracy and proper table structuring.</a:t>
            </a:r>
            <a:endParaRPr sz="2588"/>
          </a:p>
          <a:p>
            <a:pPr indent="-36831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88"/>
              <a:t>Comprehensive testing of the application to ensure functionality and user-friendliness.</a:t>
            </a:r>
            <a:endParaRPr sz="2588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50"/>
          </a:p>
        </p:txBody>
      </p:sp>
      <p:sp>
        <p:nvSpPr>
          <p:cNvPr id="332" name="Google Shape;332;p21"/>
          <p:cNvSpPr txBox="1"/>
          <p:nvPr/>
        </p:nvSpPr>
        <p:spPr>
          <a:xfrm>
            <a:off x="217050" y="4707150"/>
            <a:ext cx="86253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9,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doing it? </a:t>
            </a:r>
            <a:endParaRPr/>
          </a:p>
        </p:txBody>
      </p:sp>
      <p:sp>
        <p:nvSpPr>
          <p:cNvPr id="338" name="Google Shape;338;p22"/>
          <p:cNvSpPr txBox="1"/>
          <p:nvPr>
            <p:ph idx="1" type="body"/>
          </p:nvPr>
        </p:nvSpPr>
        <p:spPr>
          <a:xfrm>
            <a:off x="1383875" y="1284975"/>
            <a:ext cx="7030500" cy="37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-350234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482"/>
              <a:t>Student developers implement the database structure in Oracle Application Express. </a:t>
            </a:r>
            <a:endParaRPr sz="3482"/>
          </a:p>
          <a:p>
            <a:pPr indent="-350234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482"/>
              <a:t>Team collaboration for an application and database development.</a:t>
            </a:r>
            <a:endParaRPr sz="3482"/>
          </a:p>
          <a:p>
            <a:pPr indent="-350234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482"/>
              <a:t>Table creation, sample data addition, and data testing is done by each student.</a:t>
            </a:r>
            <a:endParaRPr sz="3482"/>
          </a:p>
          <a:p>
            <a:pPr indent="-350234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482"/>
              <a:t>Collective effort towards a functional and robust vacation booking system.</a:t>
            </a:r>
            <a:endParaRPr sz="3482"/>
          </a:p>
          <a:p>
            <a:pPr indent="-350234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482"/>
              <a:t>Unique contributions from each role for tailored customer needs.</a:t>
            </a:r>
            <a:endParaRPr sz="3482"/>
          </a:p>
          <a:p>
            <a:pPr indent="-350234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482"/>
              <a:t>Constant communication and idea exchange among developers.</a:t>
            </a:r>
            <a:endParaRPr sz="3482"/>
          </a:p>
          <a:p>
            <a:pPr indent="0" lvl="0" marL="457200" marR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88"/>
          </a:p>
        </p:txBody>
      </p:sp>
      <p:sp>
        <p:nvSpPr>
          <p:cNvPr id="339" name="Google Shape;339;p22"/>
          <p:cNvSpPr txBox="1"/>
          <p:nvPr/>
        </p:nvSpPr>
        <p:spPr>
          <a:xfrm>
            <a:off x="217050" y="4707150"/>
            <a:ext cx="86253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10,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is it being done?</a:t>
            </a:r>
            <a:endParaRPr/>
          </a:p>
        </p:txBody>
      </p:sp>
      <p:sp>
        <p:nvSpPr>
          <p:cNvPr id="345" name="Google Shape;345;p23"/>
          <p:cNvSpPr txBox="1"/>
          <p:nvPr>
            <p:ph idx="1" type="body"/>
          </p:nvPr>
        </p:nvSpPr>
        <p:spPr>
          <a:xfrm>
            <a:off x="1303800" y="1400675"/>
            <a:ext cx="7030500" cy="31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-319005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88"/>
              <a:t>Initiation: Brainstorming, role assignment, and scope discussions.</a:t>
            </a:r>
            <a:endParaRPr sz="2588"/>
          </a:p>
          <a:p>
            <a:pPr indent="-319005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88"/>
              <a:t>Database Planning: Designing entity relationships and finalizing structure.</a:t>
            </a:r>
            <a:endParaRPr sz="2588"/>
          </a:p>
          <a:p>
            <a:pPr indent="-319005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88"/>
              <a:t>Database Implementation: Creating tables, populating data, testing, and refining.</a:t>
            </a:r>
            <a:endParaRPr sz="2588"/>
          </a:p>
          <a:p>
            <a:pPr indent="-319005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88"/>
              <a:t>Milestone Completion: Targeting implementation completion by December 5, 2023.</a:t>
            </a:r>
            <a:endParaRPr sz="2588"/>
          </a:p>
          <a:p>
            <a:pPr indent="-319005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88"/>
              <a:t>Continuous Development: Ongoing refinement and progressive testing.</a:t>
            </a:r>
            <a:endParaRPr sz="2588"/>
          </a:p>
          <a:p>
            <a:pPr indent="-319005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88"/>
              <a:t>System Validation: Testing functionalities and user experience.</a:t>
            </a:r>
            <a:endParaRPr sz="2588"/>
          </a:p>
          <a:p>
            <a:pPr indent="-319005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88"/>
              <a:t>Final Stage: Last-minute refinements and presentation content preparation by December 7, 2023.</a:t>
            </a:r>
            <a:endParaRPr sz="2588"/>
          </a:p>
          <a:p>
            <a:pPr indent="-319005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88"/>
              <a:t>Presentation: Showcasing the functional system and explaining details by December 12, 2023</a:t>
            </a:r>
            <a:endParaRPr sz="1200">
              <a:solidFill>
                <a:srgbClr val="D1D5DB"/>
              </a:solidFill>
              <a:highlight>
                <a:srgbClr val="34354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88"/>
          </a:p>
          <a:p>
            <a:pPr indent="0" lvl="0" marL="914400" marR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88"/>
          </a:p>
        </p:txBody>
      </p:sp>
      <p:sp>
        <p:nvSpPr>
          <p:cNvPr id="346" name="Google Shape;346;p23"/>
          <p:cNvSpPr txBox="1"/>
          <p:nvPr/>
        </p:nvSpPr>
        <p:spPr>
          <a:xfrm>
            <a:off x="217050" y="4707150"/>
            <a:ext cx="86253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11,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it being done? </a:t>
            </a:r>
            <a:endParaRPr/>
          </a:p>
        </p:txBody>
      </p:sp>
      <p:sp>
        <p:nvSpPr>
          <p:cNvPr id="352" name="Google Shape;352;p24"/>
          <p:cNvSpPr txBox="1"/>
          <p:nvPr>
            <p:ph idx="1" type="body"/>
          </p:nvPr>
        </p:nvSpPr>
        <p:spPr>
          <a:xfrm>
            <a:off x="1056750" y="1597875"/>
            <a:ext cx="7030500" cy="32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project vacation planning system is being created by a group of passionate student developers as a learning project.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It streamlines trip planning, enabling personalized vacation packages for users.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Prioritizes an easy and tailored experience for each user’s vacation planning.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Serves as a practical learning opportunity for student developers to create databases and applications.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Enhances skills in teamwork, presentation, and understanding complex database systems.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Offers insights into real project interactions and complexities involved in functional database system creation.</a:t>
            </a:r>
            <a:endParaRPr sz="1400"/>
          </a:p>
        </p:txBody>
      </p:sp>
      <p:sp>
        <p:nvSpPr>
          <p:cNvPr id="353" name="Google Shape;353;p24"/>
          <p:cNvSpPr txBox="1"/>
          <p:nvPr/>
        </p:nvSpPr>
        <p:spPr>
          <a:xfrm>
            <a:off x="217050" y="4707150"/>
            <a:ext cx="86253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12,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it be improved?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59" name="Google Shape;359;p25"/>
          <p:cNvSpPr txBox="1"/>
          <p:nvPr>
            <p:ph idx="1" type="body"/>
          </p:nvPr>
        </p:nvSpPr>
        <p:spPr>
          <a:xfrm>
            <a:off x="775975" y="1597875"/>
            <a:ext cx="7311300" cy="27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Integration of interactive maps for visual exploration of destinations and attractions.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Inclusion of personalized travel guides based on user preferences and history.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Implementation of AI-powered chatbots for instant assistance and guidance.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Providing information on environmental impact and carbon footprint estimates for mindful traveling.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Addition of language translation services for real-time communication in foreign countries.</a:t>
            </a:r>
            <a:endParaRPr sz="1500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60" name="Google Shape;360;p25"/>
          <p:cNvSpPr txBox="1"/>
          <p:nvPr/>
        </p:nvSpPr>
        <p:spPr>
          <a:xfrm>
            <a:off x="217050" y="4707150"/>
            <a:ext cx="86253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13,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6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Design</a:t>
            </a:r>
            <a:endParaRPr/>
          </a:p>
        </p:txBody>
      </p:sp>
      <p:sp>
        <p:nvSpPr>
          <p:cNvPr id="366" name="Google Shape;366;p26"/>
          <p:cNvSpPr txBox="1"/>
          <p:nvPr/>
        </p:nvSpPr>
        <p:spPr>
          <a:xfrm>
            <a:off x="217050" y="4707150"/>
            <a:ext cx="86253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Slide 14, 12/12/23, Faaria Fatima, Anna Koganov, Gabryella Orrego, CSC239-02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type="title"/>
          </p:nvPr>
        </p:nvSpPr>
        <p:spPr>
          <a:xfrm>
            <a:off x="1117800" y="-68675"/>
            <a:ext cx="7030500" cy="5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Entity-Relationship Diagram</a:t>
            </a:r>
            <a:endParaRPr/>
          </a:p>
        </p:txBody>
      </p:sp>
      <p:sp>
        <p:nvSpPr>
          <p:cNvPr id="372" name="Google Shape;372;p27"/>
          <p:cNvSpPr txBox="1"/>
          <p:nvPr/>
        </p:nvSpPr>
        <p:spPr>
          <a:xfrm>
            <a:off x="518700" y="4774975"/>
            <a:ext cx="86253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15,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8"/>
          <p:cNvSpPr txBox="1"/>
          <p:nvPr>
            <p:ph type="title"/>
          </p:nvPr>
        </p:nvSpPr>
        <p:spPr>
          <a:xfrm>
            <a:off x="1219850" y="0"/>
            <a:ext cx="5846700" cy="6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Dependency Diagram</a:t>
            </a:r>
            <a:endParaRPr/>
          </a:p>
        </p:txBody>
      </p:sp>
      <p:sp>
        <p:nvSpPr>
          <p:cNvPr id="378" name="Google Shape;378;p28"/>
          <p:cNvSpPr txBox="1"/>
          <p:nvPr/>
        </p:nvSpPr>
        <p:spPr>
          <a:xfrm>
            <a:off x="518700" y="4786275"/>
            <a:ext cx="86253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16,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9"/>
          <p:cNvSpPr txBox="1"/>
          <p:nvPr>
            <p:ph type="title"/>
          </p:nvPr>
        </p:nvSpPr>
        <p:spPr>
          <a:xfrm>
            <a:off x="3985200" y="964850"/>
            <a:ext cx="5158800" cy="6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Dependency Diagram Cont.</a:t>
            </a:r>
            <a:endParaRPr/>
          </a:p>
        </p:txBody>
      </p:sp>
      <p:sp>
        <p:nvSpPr>
          <p:cNvPr id="384" name="Google Shape;384;p29"/>
          <p:cNvSpPr txBox="1"/>
          <p:nvPr/>
        </p:nvSpPr>
        <p:spPr>
          <a:xfrm>
            <a:off x="217050" y="4707150"/>
            <a:ext cx="86253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17,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0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Implementation</a:t>
            </a:r>
            <a:endParaRPr/>
          </a:p>
        </p:txBody>
      </p:sp>
      <p:sp>
        <p:nvSpPr>
          <p:cNvPr id="390" name="Google Shape;390;p30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Slide 18, 12/12/23, Faaria Fatima, Anna Koganov, Gabryella Orrego, CSC239-02</a:t>
            </a:r>
            <a:endParaRPr sz="13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1"/>
          <p:cNvSpPr txBox="1"/>
          <p:nvPr>
            <p:ph type="title"/>
          </p:nvPr>
        </p:nvSpPr>
        <p:spPr>
          <a:xfrm>
            <a:off x="1303800" y="0"/>
            <a:ext cx="44337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Flights Table Description</a:t>
            </a:r>
            <a:endParaRPr/>
          </a:p>
        </p:txBody>
      </p:sp>
      <p:sp>
        <p:nvSpPr>
          <p:cNvPr id="396" name="Google Shape;396;p31"/>
          <p:cNvSpPr txBox="1"/>
          <p:nvPr>
            <p:ph idx="1" type="body"/>
          </p:nvPr>
        </p:nvSpPr>
        <p:spPr>
          <a:xfrm>
            <a:off x="1303800" y="1171350"/>
            <a:ext cx="7030500" cy="30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Stores data about available flights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Contains flight number, plane type, airline, flight start date and time, flight end date and time, flight origin, and flight destination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Flight number is primary key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Flight number becomes foreign key in flight package table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One flight can be a part of many flight packages</a:t>
            </a:r>
            <a:endParaRPr sz="2000"/>
          </a:p>
        </p:txBody>
      </p:sp>
      <p:sp>
        <p:nvSpPr>
          <p:cNvPr id="397" name="Google Shape;397;p31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19,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2"/>
          <p:cNvSpPr txBox="1"/>
          <p:nvPr>
            <p:ph type="title"/>
          </p:nvPr>
        </p:nvSpPr>
        <p:spPr>
          <a:xfrm>
            <a:off x="1303800" y="0"/>
            <a:ext cx="7030500" cy="6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Flights Table Structure</a:t>
            </a:r>
            <a:endParaRPr/>
          </a:p>
        </p:txBody>
      </p:sp>
      <p:pic>
        <p:nvPicPr>
          <p:cNvPr id="403" name="Google Shape;403;p32"/>
          <p:cNvPicPr preferRelativeResize="0"/>
          <p:nvPr/>
        </p:nvPicPr>
        <p:blipFill rotWithShape="1">
          <a:blip r:embed="rId3">
            <a:alphaModFix/>
          </a:blip>
          <a:srcRect b="20197" l="0" r="0" t="0"/>
          <a:stretch/>
        </p:blipFill>
        <p:spPr>
          <a:xfrm>
            <a:off x="436375" y="676500"/>
            <a:ext cx="8271249" cy="356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2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20,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3"/>
          <p:cNvSpPr txBox="1"/>
          <p:nvPr>
            <p:ph type="title"/>
          </p:nvPr>
        </p:nvSpPr>
        <p:spPr>
          <a:xfrm>
            <a:off x="1303800" y="0"/>
            <a:ext cx="70305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Flights Table Data</a:t>
            </a:r>
            <a:endParaRPr/>
          </a:p>
        </p:txBody>
      </p:sp>
      <p:pic>
        <p:nvPicPr>
          <p:cNvPr id="410" name="Google Shape;41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2106"/>
            <a:ext cx="9144001" cy="3975119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3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21,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4"/>
          <p:cNvSpPr txBox="1"/>
          <p:nvPr>
            <p:ph type="title"/>
          </p:nvPr>
        </p:nvSpPr>
        <p:spPr>
          <a:xfrm>
            <a:off x="1303800" y="0"/>
            <a:ext cx="5752200" cy="6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Flight Package Table Description</a:t>
            </a:r>
            <a:endParaRPr/>
          </a:p>
        </p:txBody>
      </p:sp>
      <p:sp>
        <p:nvSpPr>
          <p:cNvPr id="417" name="Google Shape;417;p34"/>
          <p:cNvSpPr txBox="1"/>
          <p:nvPr>
            <p:ph idx="1" type="body"/>
          </p:nvPr>
        </p:nvSpPr>
        <p:spPr>
          <a:xfrm>
            <a:off x="1303800" y="1405350"/>
            <a:ext cx="7030500" cy="23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Stores data about available flight packages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Contains</a:t>
            </a:r>
            <a:r>
              <a:rPr lang="en" sz="2000"/>
              <a:t> flight package number, flight number, meal type, wifi, and flight class.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Flight package number is primary key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Flight number is a foreign key from the flights table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Many flight packages can be made from one flight</a:t>
            </a:r>
            <a:endParaRPr sz="2000"/>
          </a:p>
        </p:txBody>
      </p:sp>
      <p:sp>
        <p:nvSpPr>
          <p:cNvPr id="418" name="Google Shape;418;p34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22,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5"/>
          <p:cNvSpPr txBox="1"/>
          <p:nvPr>
            <p:ph type="title"/>
          </p:nvPr>
        </p:nvSpPr>
        <p:spPr>
          <a:xfrm>
            <a:off x="1303800" y="0"/>
            <a:ext cx="4477200" cy="6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Flight Package Structure</a:t>
            </a:r>
            <a:endParaRPr/>
          </a:p>
        </p:txBody>
      </p:sp>
      <p:pic>
        <p:nvPicPr>
          <p:cNvPr id="424" name="Google Shape;424;p35"/>
          <p:cNvPicPr preferRelativeResize="0"/>
          <p:nvPr/>
        </p:nvPicPr>
        <p:blipFill rotWithShape="1">
          <a:blip r:embed="rId3">
            <a:alphaModFix/>
          </a:blip>
          <a:srcRect b="27698" l="0" r="0" t="0"/>
          <a:stretch/>
        </p:blipFill>
        <p:spPr>
          <a:xfrm>
            <a:off x="0" y="1115525"/>
            <a:ext cx="9143999" cy="2912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5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23,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6"/>
          <p:cNvSpPr txBox="1"/>
          <p:nvPr>
            <p:ph type="title"/>
          </p:nvPr>
        </p:nvSpPr>
        <p:spPr>
          <a:xfrm>
            <a:off x="1303800" y="0"/>
            <a:ext cx="3883200" cy="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Flight Package Data</a:t>
            </a:r>
            <a:endParaRPr/>
          </a:p>
        </p:txBody>
      </p:sp>
      <p:pic>
        <p:nvPicPr>
          <p:cNvPr id="431" name="Google Shape;43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73625"/>
            <a:ext cx="9143999" cy="3615076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6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24,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7"/>
          <p:cNvSpPr txBox="1"/>
          <p:nvPr>
            <p:ph type="title"/>
          </p:nvPr>
        </p:nvSpPr>
        <p:spPr>
          <a:xfrm>
            <a:off x="1303800" y="0"/>
            <a:ext cx="7030500" cy="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Restaurant Table Description</a:t>
            </a:r>
            <a:endParaRPr/>
          </a:p>
        </p:txBody>
      </p:sp>
      <p:sp>
        <p:nvSpPr>
          <p:cNvPr id="438" name="Google Shape;438;p37"/>
          <p:cNvSpPr txBox="1"/>
          <p:nvPr>
            <p:ph idx="1" type="body"/>
          </p:nvPr>
        </p:nvSpPr>
        <p:spPr>
          <a:xfrm>
            <a:off x="1303800" y="1178550"/>
            <a:ext cx="7030500" cy="27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Stores data about available restaurants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Contains restaurant id, restaurant name, restaurant street address, restaurant state/province, and restaurant country.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Restaurant id is the primary key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Restaurant id is a foreign key in the reservation table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One restaurant can be found in many reservations.</a:t>
            </a:r>
            <a:endParaRPr sz="2000"/>
          </a:p>
        </p:txBody>
      </p:sp>
      <p:sp>
        <p:nvSpPr>
          <p:cNvPr id="439" name="Google Shape;439;p37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25,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8"/>
          <p:cNvSpPr txBox="1"/>
          <p:nvPr>
            <p:ph type="title"/>
          </p:nvPr>
        </p:nvSpPr>
        <p:spPr>
          <a:xfrm>
            <a:off x="1289300" y="0"/>
            <a:ext cx="7030500" cy="6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Restaurant Table Structure</a:t>
            </a:r>
            <a:endParaRPr/>
          </a:p>
        </p:txBody>
      </p:sp>
      <p:pic>
        <p:nvPicPr>
          <p:cNvPr id="445" name="Google Shape;44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85400"/>
            <a:ext cx="9144000" cy="391886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8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26,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9"/>
          <p:cNvSpPr txBox="1"/>
          <p:nvPr>
            <p:ph type="title"/>
          </p:nvPr>
        </p:nvSpPr>
        <p:spPr>
          <a:xfrm>
            <a:off x="1303800" y="0"/>
            <a:ext cx="7030500" cy="6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Restaurant Table Data</a:t>
            </a:r>
            <a:endParaRPr/>
          </a:p>
        </p:txBody>
      </p:sp>
      <p:pic>
        <p:nvPicPr>
          <p:cNvPr id="452" name="Google Shape;45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85400"/>
            <a:ext cx="9144000" cy="3583627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9"/>
          <p:cNvSpPr txBox="1"/>
          <p:nvPr/>
        </p:nvSpPr>
        <p:spPr>
          <a:xfrm>
            <a:off x="217050" y="4707150"/>
            <a:ext cx="86253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27,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0"/>
          <p:cNvSpPr txBox="1"/>
          <p:nvPr>
            <p:ph type="title"/>
          </p:nvPr>
        </p:nvSpPr>
        <p:spPr>
          <a:xfrm>
            <a:off x="1303800" y="0"/>
            <a:ext cx="70305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Reservation Table Description</a:t>
            </a:r>
            <a:endParaRPr/>
          </a:p>
        </p:txBody>
      </p:sp>
      <p:sp>
        <p:nvSpPr>
          <p:cNvPr id="459" name="Google Shape;459;p40"/>
          <p:cNvSpPr txBox="1"/>
          <p:nvPr>
            <p:ph idx="1" type="body"/>
          </p:nvPr>
        </p:nvSpPr>
        <p:spPr>
          <a:xfrm>
            <a:off x="1303800" y="618600"/>
            <a:ext cx="7030500" cy="3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Stores data about the reservations made.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Contains reservation id, restaurant id, reservation start and end date and number of people.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Reservation id is primary key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Restaurant id is a foreign key from the restaurant table.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Many reservations can be made from one restaurant.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40"/>
          <p:cNvSpPr txBox="1"/>
          <p:nvPr/>
        </p:nvSpPr>
        <p:spPr>
          <a:xfrm>
            <a:off x="217050" y="4707150"/>
            <a:ext cx="86253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28,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1"/>
          <p:cNvSpPr txBox="1"/>
          <p:nvPr>
            <p:ph type="title"/>
          </p:nvPr>
        </p:nvSpPr>
        <p:spPr>
          <a:xfrm>
            <a:off x="1303800" y="0"/>
            <a:ext cx="7030500" cy="6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Reservation Table Structure</a:t>
            </a:r>
            <a:endParaRPr/>
          </a:p>
        </p:txBody>
      </p:sp>
      <p:pic>
        <p:nvPicPr>
          <p:cNvPr id="466" name="Google Shape;46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8900"/>
            <a:ext cx="9144000" cy="3872618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1"/>
          <p:cNvSpPr txBox="1"/>
          <p:nvPr/>
        </p:nvSpPr>
        <p:spPr>
          <a:xfrm>
            <a:off x="217050" y="4707150"/>
            <a:ext cx="86253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29,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2"/>
          <p:cNvSpPr txBox="1"/>
          <p:nvPr>
            <p:ph type="title"/>
          </p:nvPr>
        </p:nvSpPr>
        <p:spPr>
          <a:xfrm>
            <a:off x="1303800" y="0"/>
            <a:ext cx="7030500" cy="6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Reservation Table Data</a:t>
            </a:r>
            <a:endParaRPr/>
          </a:p>
        </p:txBody>
      </p:sp>
      <p:pic>
        <p:nvPicPr>
          <p:cNvPr id="473" name="Google Shape;47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90900"/>
            <a:ext cx="9144000" cy="401156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42"/>
          <p:cNvSpPr txBox="1"/>
          <p:nvPr/>
        </p:nvSpPr>
        <p:spPr>
          <a:xfrm>
            <a:off x="217050" y="4707150"/>
            <a:ext cx="86253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30,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3"/>
          <p:cNvSpPr txBox="1"/>
          <p:nvPr>
            <p:ph type="title"/>
          </p:nvPr>
        </p:nvSpPr>
        <p:spPr>
          <a:xfrm>
            <a:off x="1303800" y="0"/>
            <a:ext cx="7030500" cy="6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Table Description</a:t>
            </a:r>
            <a:endParaRPr/>
          </a:p>
        </p:txBody>
      </p:sp>
      <p:sp>
        <p:nvSpPr>
          <p:cNvPr id="480" name="Google Shape;480;p43"/>
          <p:cNvSpPr txBox="1"/>
          <p:nvPr>
            <p:ph idx="1" type="body"/>
          </p:nvPr>
        </p:nvSpPr>
        <p:spPr>
          <a:xfrm>
            <a:off x="1361775" y="1560325"/>
            <a:ext cx="7030500" cy="23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Stores data about fun vacation activities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Contains activity ID, activity name, activity type, activity start, activity end, and activity cost per person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Primary key is activity ID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Becomes a foreign key in the activity booking table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One activity can be a part of many activity bookings</a:t>
            </a:r>
            <a:endParaRPr sz="2000"/>
          </a:p>
        </p:txBody>
      </p:sp>
      <p:sp>
        <p:nvSpPr>
          <p:cNvPr id="481" name="Google Shape;481;p43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31,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4"/>
          <p:cNvSpPr txBox="1"/>
          <p:nvPr>
            <p:ph type="title"/>
          </p:nvPr>
        </p:nvSpPr>
        <p:spPr>
          <a:xfrm>
            <a:off x="1303800" y="0"/>
            <a:ext cx="70305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Table Structure</a:t>
            </a:r>
            <a:endParaRPr/>
          </a:p>
        </p:txBody>
      </p:sp>
      <p:pic>
        <p:nvPicPr>
          <p:cNvPr id="487" name="Google Shape;48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9800"/>
            <a:ext cx="9144000" cy="3175968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4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32,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5"/>
          <p:cNvSpPr txBox="1"/>
          <p:nvPr>
            <p:ph type="title"/>
          </p:nvPr>
        </p:nvSpPr>
        <p:spPr>
          <a:xfrm>
            <a:off x="1303800" y="0"/>
            <a:ext cx="70305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Table Data</a:t>
            </a:r>
            <a:endParaRPr/>
          </a:p>
        </p:txBody>
      </p:sp>
      <p:pic>
        <p:nvPicPr>
          <p:cNvPr id="494" name="Google Shape;49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7400"/>
            <a:ext cx="9144000" cy="3987356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5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33,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6"/>
          <p:cNvSpPr txBox="1"/>
          <p:nvPr>
            <p:ph type="title"/>
          </p:nvPr>
        </p:nvSpPr>
        <p:spPr>
          <a:xfrm>
            <a:off x="1303800" y="0"/>
            <a:ext cx="70305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Booking Table Description</a:t>
            </a:r>
            <a:endParaRPr/>
          </a:p>
        </p:txBody>
      </p:sp>
      <p:sp>
        <p:nvSpPr>
          <p:cNvPr id="501" name="Google Shape;501;p46"/>
          <p:cNvSpPr txBox="1"/>
          <p:nvPr>
            <p:ph idx="1" type="body"/>
          </p:nvPr>
        </p:nvSpPr>
        <p:spPr>
          <a:xfrm>
            <a:off x="1303800" y="822250"/>
            <a:ext cx="7030500" cy="37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Stores data about the activities booked.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Contains package ID and activity ID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Package ID and activity ID make up a composite primary key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Package ID and activity ID are foreign keys from the package and activity tables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Many activity bookings can be made from one activity</a:t>
            </a:r>
            <a:endParaRPr/>
          </a:p>
        </p:txBody>
      </p:sp>
      <p:sp>
        <p:nvSpPr>
          <p:cNvPr id="502" name="Google Shape;502;p46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34,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7"/>
          <p:cNvSpPr txBox="1"/>
          <p:nvPr>
            <p:ph type="title"/>
          </p:nvPr>
        </p:nvSpPr>
        <p:spPr>
          <a:xfrm>
            <a:off x="1303800" y="0"/>
            <a:ext cx="7030500" cy="6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Booking Table Structure</a:t>
            </a:r>
            <a:endParaRPr/>
          </a:p>
        </p:txBody>
      </p:sp>
      <p:pic>
        <p:nvPicPr>
          <p:cNvPr id="508" name="Google Shape;50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8900"/>
            <a:ext cx="9144000" cy="381694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7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35,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8"/>
          <p:cNvSpPr txBox="1"/>
          <p:nvPr>
            <p:ph type="title"/>
          </p:nvPr>
        </p:nvSpPr>
        <p:spPr>
          <a:xfrm>
            <a:off x="1303800" y="0"/>
            <a:ext cx="70305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Booking Table Data</a:t>
            </a:r>
            <a:endParaRPr/>
          </a:p>
        </p:txBody>
      </p:sp>
      <p:pic>
        <p:nvPicPr>
          <p:cNvPr id="515" name="Google Shape;51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9800"/>
            <a:ext cx="9144000" cy="3581695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48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36,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9"/>
          <p:cNvSpPr txBox="1"/>
          <p:nvPr>
            <p:ph type="title"/>
          </p:nvPr>
        </p:nvSpPr>
        <p:spPr>
          <a:xfrm>
            <a:off x="1303800" y="0"/>
            <a:ext cx="7030500" cy="6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Hotel Table Description</a:t>
            </a:r>
            <a:endParaRPr/>
          </a:p>
        </p:txBody>
      </p:sp>
      <p:sp>
        <p:nvSpPr>
          <p:cNvPr id="522" name="Google Shape;522;p49"/>
          <p:cNvSpPr txBox="1"/>
          <p:nvPr>
            <p:ph idx="1" type="body"/>
          </p:nvPr>
        </p:nvSpPr>
        <p:spPr>
          <a:xfrm>
            <a:off x="1303800" y="1057675"/>
            <a:ext cx="7030500" cy="3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Stores data about hotels that can be booked for the vacation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Contains hotel ID, hotel name, hotel type, hotel street address, hotel state/province, and hotel country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Primary key is hotel ID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Hotel ID becomes a foreign key in the booking table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One hotel can be a part of many bookings </a:t>
            </a:r>
            <a:endParaRPr sz="2000"/>
          </a:p>
        </p:txBody>
      </p:sp>
      <p:sp>
        <p:nvSpPr>
          <p:cNvPr id="523" name="Google Shape;523;p49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37,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0"/>
          <p:cNvSpPr txBox="1"/>
          <p:nvPr>
            <p:ph type="title"/>
          </p:nvPr>
        </p:nvSpPr>
        <p:spPr>
          <a:xfrm>
            <a:off x="1303800" y="0"/>
            <a:ext cx="70305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Hotel Table Structure</a:t>
            </a:r>
            <a:endParaRPr/>
          </a:p>
        </p:txBody>
      </p:sp>
      <p:pic>
        <p:nvPicPr>
          <p:cNvPr id="529" name="Google Shape;52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9800"/>
            <a:ext cx="9144001" cy="3594381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50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38,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1"/>
          <p:cNvSpPr txBox="1"/>
          <p:nvPr>
            <p:ph type="title"/>
          </p:nvPr>
        </p:nvSpPr>
        <p:spPr>
          <a:xfrm>
            <a:off x="1303800" y="0"/>
            <a:ext cx="70305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Hotel Table Data</a:t>
            </a:r>
            <a:endParaRPr/>
          </a:p>
        </p:txBody>
      </p:sp>
      <p:pic>
        <p:nvPicPr>
          <p:cNvPr id="536" name="Google Shape;53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71000"/>
            <a:ext cx="9144000" cy="3925525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1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39,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2"/>
          <p:cNvSpPr txBox="1"/>
          <p:nvPr>
            <p:ph type="title"/>
          </p:nvPr>
        </p:nvSpPr>
        <p:spPr>
          <a:xfrm>
            <a:off x="1303800" y="0"/>
            <a:ext cx="7030500" cy="6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Booking Table Description</a:t>
            </a:r>
            <a:endParaRPr/>
          </a:p>
        </p:txBody>
      </p:sp>
      <p:sp>
        <p:nvSpPr>
          <p:cNvPr id="543" name="Google Shape;543;p52"/>
          <p:cNvSpPr txBox="1"/>
          <p:nvPr>
            <p:ph idx="1" type="body"/>
          </p:nvPr>
        </p:nvSpPr>
        <p:spPr>
          <a:xfrm>
            <a:off x="1303800" y="1361950"/>
            <a:ext cx="7030500" cy="31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Stores data about hotel bookings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Contains booking ID,  hotel ID, room type, number of rooms, and cost per room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Hotel ID is a foreign key from the hotel table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Many hotel bookings can be made from one hotel</a:t>
            </a:r>
            <a:endParaRPr sz="2000"/>
          </a:p>
        </p:txBody>
      </p:sp>
      <p:sp>
        <p:nvSpPr>
          <p:cNvPr id="544" name="Google Shape;544;p52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40,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3"/>
          <p:cNvSpPr txBox="1"/>
          <p:nvPr>
            <p:ph type="title"/>
          </p:nvPr>
        </p:nvSpPr>
        <p:spPr>
          <a:xfrm>
            <a:off x="1303800" y="0"/>
            <a:ext cx="70305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Booking Table Structure</a:t>
            </a:r>
            <a:endParaRPr/>
          </a:p>
        </p:txBody>
      </p:sp>
      <p:pic>
        <p:nvPicPr>
          <p:cNvPr id="550" name="Google Shape;55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71000"/>
            <a:ext cx="9144000" cy="3967932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53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41,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4"/>
          <p:cNvSpPr txBox="1"/>
          <p:nvPr>
            <p:ph type="title"/>
          </p:nvPr>
        </p:nvSpPr>
        <p:spPr>
          <a:xfrm>
            <a:off x="1303800" y="0"/>
            <a:ext cx="7030500" cy="6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Booking Table Data</a:t>
            </a:r>
            <a:endParaRPr/>
          </a:p>
        </p:txBody>
      </p:sp>
      <p:pic>
        <p:nvPicPr>
          <p:cNvPr id="557" name="Google Shape;55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01463"/>
            <a:ext cx="9144000" cy="3940576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54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42,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5"/>
          <p:cNvSpPr txBox="1"/>
          <p:nvPr>
            <p:ph type="title"/>
          </p:nvPr>
        </p:nvSpPr>
        <p:spPr>
          <a:xfrm>
            <a:off x="1303800" y="0"/>
            <a:ext cx="70305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Transportation Table Description</a:t>
            </a:r>
            <a:endParaRPr/>
          </a:p>
        </p:txBody>
      </p:sp>
      <p:sp>
        <p:nvSpPr>
          <p:cNvPr id="564" name="Google Shape;564;p55"/>
          <p:cNvSpPr txBox="1"/>
          <p:nvPr>
            <p:ph idx="1" type="body"/>
          </p:nvPr>
        </p:nvSpPr>
        <p:spPr>
          <a:xfrm>
            <a:off x="1303800" y="647400"/>
            <a:ext cx="7030500" cy="38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Stores data about a single booking for a method of transportation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Contains </a:t>
            </a:r>
            <a:r>
              <a:rPr lang="en" sz="2000"/>
              <a:t>transportation</a:t>
            </a:r>
            <a:r>
              <a:rPr lang="en" sz="2000"/>
              <a:t> ID, transportation type, start timestamp, and end timestamp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Additional </a:t>
            </a:r>
            <a:r>
              <a:rPr lang="en" sz="2000"/>
              <a:t>transportation</a:t>
            </a:r>
            <a:r>
              <a:rPr lang="en" sz="2000"/>
              <a:t> is not available through this database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Transportation</a:t>
            </a:r>
            <a:r>
              <a:rPr lang="en" sz="2000"/>
              <a:t> ID is the primary key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Transportation</a:t>
            </a:r>
            <a:r>
              <a:rPr lang="en" sz="2000"/>
              <a:t> is a foreign key in the package table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One </a:t>
            </a:r>
            <a:r>
              <a:rPr lang="en" sz="2000"/>
              <a:t>transportation</a:t>
            </a:r>
            <a:r>
              <a:rPr lang="en" sz="2000"/>
              <a:t> booking can be a part of one </a:t>
            </a:r>
            <a:r>
              <a:rPr lang="en" sz="2000"/>
              <a:t>vacation</a:t>
            </a:r>
            <a:r>
              <a:rPr lang="en" sz="2000"/>
              <a:t> package</a:t>
            </a:r>
            <a:endParaRPr sz="2000"/>
          </a:p>
        </p:txBody>
      </p:sp>
      <p:sp>
        <p:nvSpPr>
          <p:cNvPr id="565" name="Google Shape;565;p55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43,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6"/>
          <p:cNvSpPr txBox="1"/>
          <p:nvPr>
            <p:ph type="title"/>
          </p:nvPr>
        </p:nvSpPr>
        <p:spPr>
          <a:xfrm>
            <a:off x="1303800" y="0"/>
            <a:ext cx="7030500" cy="7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Transportation Table Structure</a:t>
            </a:r>
            <a:endParaRPr/>
          </a:p>
        </p:txBody>
      </p:sp>
      <p:pic>
        <p:nvPicPr>
          <p:cNvPr id="571" name="Google Shape;57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08273"/>
            <a:ext cx="9144000" cy="3847037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56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44,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7"/>
          <p:cNvSpPr txBox="1"/>
          <p:nvPr>
            <p:ph type="title"/>
          </p:nvPr>
        </p:nvSpPr>
        <p:spPr>
          <a:xfrm>
            <a:off x="1303800" y="0"/>
            <a:ext cx="70305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Transportation Table Data</a:t>
            </a:r>
            <a:endParaRPr/>
          </a:p>
        </p:txBody>
      </p:sp>
      <p:pic>
        <p:nvPicPr>
          <p:cNvPr id="578" name="Google Shape;57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71000"/>
            <a:ext cx="9144000" cy="3820678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57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45,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8"/>
          <p:cNvSpPr txBox="1"/>
          <p:nvPr>
            <p:ph type="title"/>
          </p:nvPr>
        </p:nvSpPr>
        <p:spPr>
          <a:xfrm>
            <a:off x="1303800" y="0"/>
            <a:ext cx="7030500" cy="6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Table Description</a:t>
            </a:r>
            <a:endParaRPr/>
          </a:p>
        </p:txBody>
      </p:sp>
      <p:sp>
        <p:nvSpPr>
          <p:cNvPr id="585" name="Google Shape;585;p58"/>
          <p:cNvSpPr txBox="1"/>
          <p:nvPr>
            <p:ph idx="1" type="body"/>
          </p:nvPr>
        </p:nvSpPr>
        <p:spPr>
          <a:xfrm>
            <a:off x="1303800" y="666600"/>
            <a:ext cx="7030500" cy="3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Stores data about customers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Contains customer ID, package ID, customer first name, customer last name, customer street address, customer state, customer zip code, customer phone number, and customer email.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primary key is customer ID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Package ID is a foreign key in the customer table and links to package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One customer can buy many packages</a:t>
            </a:r>
            <a:endParaRPr sz="2000"/>
          </a:p>
        </p:txBody>
      </p:sp>
      <p:sp>
        <p:nvSpPr>
          <p:cNvPr id="586" name="Google Shape;586;p58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46,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9"/>
          <p:cNvSpPr txBox="1"/>
          <p:nvPr>
            <p:ph type="title"/>
          </p:nvPr>
        </p:nvSpPr>
        <p:spPr>
          <a:xfrm>
            <a:off x="1303800" y="0"/>
            <a:ext cx="7030500" cy="6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Table Structure</a:t>
            </a:r>
            <a:endParaRPr/>
          </a:p>
        </p:txBody>
      </p:sp>
      <p:pic>
        <p:nvPicPr>
          <p:cNvPr id="592" name="Google Shape;59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85400"/>
            <a:ext cx="9144000" cy="3989466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59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47,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0"/>
          <p:cNvSpPr txBox="1"/>
          <p:nvPr>
            <p:ph type="title"/>
          </p:nvPr>
        </p:nvSpPr>
        <p:spPr>
          <a:xfrm>
            <a:off x="1303800" y="0"/>
            <a:ext cx="70305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Table Data</a:t>
            </a:r>
            <a:endParaRPr/>
          </a:p>
        </p:txBody>
      </p:sp>
      <p:pic>
        <p:nvPicPr>
          <p:cNvPr id="599" name="Google Shape;59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11427"/>
            <a:ext cx="9144000" cy="3574999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60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48,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1"/>
          <p:cNvSpPr txBox="1"/>
          <p:nvPr>
            <p:ph type="title"/>
          </p:nvPr>
        </p:nvSpPr>
        <p:spPr>
          <a:xfrm>
            <a:off x="1303800" y="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Table Description</a:t>
            </a:r>
            <a:endParaRPr/>
          </a:p>
        </p:txBody>
      </p:sp>
      <p:sp>
        <p:nvSpPr>
          <p:cNvPr id="606" name="Google Shape;606;p61"/>
          <p:cNvSpPr txBox="1"/>
          <p:nvPr>
            <p:ph idx="1" type="body"/>
          </p:nvPr>
        </p:nvSpPr>
        <p:spPr>
          <a:xfrm>
            <a:off x="1303800" y="999300"/>
            <a:ext cx="7030500" cy="35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Stores data about vacation packages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Contains package ID, flight package ID, transportation ID, booking ID, reservation ID, number of people, total cost, and customer payments.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primary key is package ID.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</a:t>
            </a:r>
            <a:r>
              <a:rPr lang="en" sz="2000"/>
              <a:t>light package ID, transportation ID, booking ID, and reservation ID are all foreign keys from other tables in the package table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One package contains one flight package, one transport, one hotel booking, and one restaurant reservation.</a:t>
            </a:r>
            <a:endParaRPr sz="2000"/>
          </a:p>
        </p:txBody>
      </p:sp>
      <p:sp>
        <p:nvSpPr>
          <p:cNvPr id="607" name="Google Shape;607;p61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49,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2"/>
          <p:cNvSpPr txBox="1"/>
          <p:nvPr>
            <p:ph type="title"/>
          </p:nvPr>
        </p:nvSpPr>
        <p:spPr>
          <a:xfrm>
            <a:off x="1303800" y="0"/>
            <a:ext cx="7030500" cy="6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Table Structure</a:t>
            </a:r>
            <a:endParaRPr/>
          </a:p>
        </p:txBody>
      </p:sp>
      <p:pic>
        <p:nvPicPr>
          <p:cNvPr id="613" name="Google Shape;61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3750"/>
            <a:ext cx="9143998" cy="3914999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62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50,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3"/>
          <p:cNvSpPr txBox="1"/>
          <p:nvPr>
            <p:ph type="title"/>
          </p:nvPr>
        </p:nvSpPr>
        <p:spPr>
          <a:xfrm>
            <a:off x="1303800" y="0"/>
            <a:ext cx="70305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Table Data</a:t>
            </a:r>
            <a:endParaRPr/>
          </a:p>
        </p:txBody>
      </p:sp>
      <p:pic>
        <p:nvPicPr>
          <p:cNvPr id="620" name="Google Shape;62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7100"/>
            <a:ext cx="9144000" cy="4089306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63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51,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4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Statements</a:t>
            </a:r>
            <a:endParaRPr/>
          </a:p>
        </p:txBody>
      </p:sp>
      <p:sp>
        <p:nvSpPr>
          <p:cNvPr id="627" name="Google Shape;627;p64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Slide 52, 12/12/23, Faaria Fatima, Anna Koganov, Gabryella Orrego, CSC239-02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5"/>
          <p:cNvSpPr txBox="1"/>
          <p:nvPr>
            <p:ph type="title"/>
          </p:nvPr>
        </p:nvSpPr>
        <p:spPr>
          <a:xfrm>
            <a:off x="1303800" y="0"/>
            <a:ext cx="7030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Record Updates</a:t>
            </a:r>
            <a:endParaRPr/>
          </a:p>
        </p:txBody>
      </p:sp>
      <p:sp>
        <p:nvSpPr>
          <p:cNvPr id="633" name="Google Shape;633;p65"/>
          <p:cNvSpPr txBox="1"/>
          <p:nvPr>
            <p:ph idx="1" type="body"/>
          </p:nvPr>
        </p:nvSpPr>
        <p:spPr>
          <a:xfrm>
            <a:off x="1303800" y="635700"/>
            <a:ext cx="3430500" cy="45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–- Update a Record from each table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UPDATE FLIGHT_PACKAGE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 FLIGHT_CLASS= 'Business'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WHERE F_PACKAGE_ID='301' AND FLIGHT_NUM ='UA 345';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UPDATE ACTIVITY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 ACT_COST_PER_PERSON=300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WHERE ACT_ID=3;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UPDATE ACTIVITY_BOOKING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 ACTIVITY_ID=5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WHERE PACKAGE_ID=12348;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UPDATE BOOKING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 COST_PER_ROOM=125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WHERE BOOKING_ID=706;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UPDATE CUSTOMER_TABLE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 C_ZIP_CODE=08831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WHERE C_LAST_NAME='Koganov';</a:t>
            </a:r>
            <a:endParaRPr sz="1000"/>
          </a:p>
        </p:txBody>
      </p:sp>
      <p:sp>
        <p:nvSpPr>
          <p:cNvPr id="634" name="Google Shape;634;p65"/>
          <p:cNvSpPr txBox="1"/>
          <p:nvPr>
            <p:ph idx="2" type="body"/>
          </p:nvPr>
        </p:nvSpPr>
        <p:spPr>
          <a:xfrm>
            <a:off x="4903650" y="635550"/>
            <a:ext cx="3430500" cy="45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UPDATE FLIGHTS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 F_DESINATION= 'JFK'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WHERE FLIGHT_NUM='UA 1847';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UPDATE HOTEL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 HOTEL_STATE_PROV='NL'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WHERE HOTEL_STATE_PROV='St.John’s NL A1C 2B8';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UPDATE PACKAGE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 NUM_OF_PEOPLE=6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WHERE PACKAGE_ID=12347;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UPDATE RESERVATION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 REST_ID=36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WHERE RESERVATION_ID=1345;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UPDATE RESTAURANT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 REST_STATE_PROV= 'Barcelona'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WHERE REST_ID=36;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UPDATE TRANSPORTATION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 TRANS_TYPE='Train'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WHERE TRANSPORT_ID=611;</a:t>
            </a:r>
            <a:endParaRPr sz="1000"/>
          </a:p>
        </p:txBody>
      </p:sp>
      <p:sp>
        <p:nvSpPr>
          <p:cNvPr id="635" name="Google Shape;635;p65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53,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6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an alias and a join</a:t>
            </a:r>
            <a:endParaRPr/>
          </a:p>
        </p:txBody>
      </p:sp>
      <p:sp>
        <p:nvSpPr>
          <p:cNvPr id="641" name="Google Shape;641;p66"/>
          <p:cNvSpPr txBox="1"/>
          <p:nvPr>
            <p:ph idx="1" type="body"/>
          </p:nvPr>
        </p:nvSpPr>
        <p:spPr>
          <a:xfrm>
            <a:off x="748475" y="1990050"/>
            <a:ext cx="7585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--Perform a calculation in at least one table and store the results of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--the calculation(s) as an alias.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SELECT BOOKING_ID, NUM_OF_ROOMS, COST_PER_ROOM, NUM_OF_ROOMS*COST_PER_ROOM AS TOTAL_COST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BOOKING;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--Demonstration of a Join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SELECT PACKAGE_ID, TRANSPORTATION.TRANSPORT_ID, TRANS_TYPE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PACKAGE JOIN TRANSPORTATION 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ON PACKAGE.TRANSPORT_ID=TRANSPORTATION.TRANSPORT_ID;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66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54,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7"/>
          <p:cNvSpPr txBox="1"/>
          <p:nvPr>
            <p:ph type="title"/>
          </p:nvPr>
        </p:nvSpPr>
        <p:spPr>
          <a:xfrm>
            <a:off x="1303800" y="0"/>
            <a:ext cx="70305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an alias and a join</a:t>
            </a:r>
            <a:endParaRPr/>
          </a:p>
        </p:txBody>
      </p:sp>
      <p:pic>
        <p:nvPicPr>
          <p:cNvPr id="648" name="Google Shape;648;p67"/>
          <p:cNvPicPr preferRelativeResize="0"/>
          <p:nvPr/>
        </p:nvPicPr>
        <p:blipFill rotWithShape="1">
          <a:blip r:embed="rId3">
            <a:alphaModFix/>
          </a:blip>
          <a:srcRect b="0" l="0" r="0" t="7834"/>
          <a:stretch/>
        </p:blipFill>
        <p:spPr>
          <a:xfrm>
            <a:off x="76200" y="731450"/>
            <a:ext cx="8991599" cy="19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" y="2759524"/>
            <a:ext cx="8991600" cy="1976796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67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55,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6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level select statement and multiple table query</a:t>
            </a:r>
            <a:endParaRPr/>
          </a:p>
        </p:txBody>
      </p:sp>
      <p:sp>
        <p:nvSpPr>
          <p:cNvPr id="656" name="Google Shape;656;p68"/>
          <p:cNvSpPr txBox="1"/>
          <p:nvPr>
            <p:ph idx="1" type="body"/>
          </p:nvPr>
        </p:nvSpPr>
        <p:spPr>
          <a:xfrm>
            <a:off x="1303800" y="1875025"/>
            <a:ext cx="7030500" cy="27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--Two Level Select Statement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SELECT BOOKING_ID, HOTEL_NAME, COST_PER_ROOM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HOTEL, BOOKING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WHERE HOTEL.HOTEL_ID=BOOKING.HOTEL_ID AND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COST_PER_ROOM&lt;=(SELECT AVG(COST_PER_ROOM)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	FROM BOOKING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	WHERE HOTEL.HOTEL_ID=BOOKING.HOTEL_ID);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--One Multiple table query useful to your specific project.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--allows people to see all packages that contain a certain      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--activity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SELECT ACT_ID, ACT_NAME, PACKAGE_ID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ACTIVITY, ACTIVITY_BOOKING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WHERE ACTIVITY.ACT_ID=ACTIVITY_BOOKING.ACTIVITY_ID AND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ACT_ID=5;</a:t>
            </a:r>
            <a:endParaRPr sz="1000"/>
          </a:p>
        </p:txBody>
      </p:sp>
      <p:sp>
        <p:nvSpPr>
          <p:cNvPr id="657" name="Google Shape;657;p68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56,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69"/>
          <p:cNvSpPr txBox="1"/>
          <p:nvPr>
            <p:ph type="title"/>
          </p:nvPr>
        </p:nvSpPr>
        <p:spPr>
          <a:xfrm>
            <a:off x="1303800" y="0"/>
            <a:ext cx="70305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level select statement and multiple table query</a:t>
            </a:r>
            <a:endParaRPr/>
          </a:p>
        </p:txBody>
      </p:sp>
      <p:pic>
        <p:nvPicPr>
          <p:cNvPr id="663" name="Google Shape;66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413" y="973425"/>
            <a:ext cx="7919174" cy="204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775" y="3266475"/>
            <a:ext cx="8968451" cy="14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69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57,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0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671" name="Google Shape;671;p70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Slide 58, 12/12/23, Faaria Fatima, Anna Koganov, Gabryella Orrego, CSC239-02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71"/>
          <p:cNvSpPr txBox="1"/>
          <p:nvPr>
            <p:ph type="title"/>
          </p:nvPr>
        </p:nvSpPr>
        <p:spPr>
          <a:xfrm>
            <a:off x="1399225" y="307275"/>
            <a:ext cx="70305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677" name="Google Shape;677;p71"/>
          <p:cNvSpPr txBox="1"/>
          <p:nvPr>
            <p:ph idx="1" type="body"/>
          </p:nvPr>
        </p:nvSpPr>
        <p:spPr>
          <a:xfrm>
            <a:off x="1399225" y="930375"/>
            <a:ext cx="7030500" cy="37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This database is here to solve your data storage and management needs.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system is set up in a way that allows users to search for and </a:t>
            </a:r>
            <a:r>
              <a:rPr lang="en" sz="2000"/>
              <a:t>select the data they need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Users can create invoices for the vacation package they created.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Allows for the further development of an application to streamline the process of booking a vacation.</a:t>
            </a:r>
            <a:endParaRPr sz="2000"/>
          </a:p>
        </p:txBody>
      </p:sp>
      <p:sp>
        <p:nvSpPr>
          <p:cNvPr id="678" name="Google Shape;678;p71"/>
          <p:cNvSpPr txBox="1"/>
          <p:nvPr/>
        </p:nvSpPr>
        <p:spPr>
          <a:xfrm>
            <a:off x="50075" y="4832975"/>
            <a:ext cx="5570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Slide 59, 12/12/23, Faaria Fatima, Anna Koganov, Gabryella Orrego, CSC239-02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